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44fa7521884094" /><Relationship Type="http://schemas.openxmlformats.org/officeDocument/2006/relationships/extended-properties" Target="/docProps/app.xml" Id="R286835016f4c42bb" /><Relationship Type="http://schemas.openxmlformats.org/officeDocument/2006/relationships/officeDocument" Target="/ppt/presentation.xml" Id="R975d84c0e37540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3c8eaeefd74467"/>
  </p:sldMasterIdLst>
  <p:notesMasterIdLst>
    <p:notesMasterId xmlns:r="http://schemas.openxmlformats.org/officeDocument/2006/relationships" r:id="R54657a30303e4ea1"/>
  </p:notesMasterIdLst>
  <p:sldIdLst>
    <p:sldId xmlns:r="http://schemas.openxmlformats.org/officeDocument/2006/relationships" id="256" r:id="R44060b33a34441ae"/>
    <p:sldId xmlns:r="http://schemas.openxmlformats.org/officeDocument/2006/relationships" id="257" r:id="R0c7cf78b58024588"/>
    <p:sldId xmlns:r="http://schemas.openxmlformats.org/officeDocument/2006/relationships" id="258" r:id="R1479708a091e4321"/>
    <p:sldId xmlns:r="http://schemas.openxmlformats.org/officeDocument/2006/relationships" id="259" r:id="Ree92d46e40154f10"/>
    <p:sldId xmlns:r="http://schemas.openxmlformats.org/officeDocument/2006/relationships" id="260" r:id="Rc79f33d9a9c240cf"/>
    <p:sldId xmlns:r="http://schemas.openxmlformats.org/officeDocument/2006/relationships" id="261" r:id="Rabf4da2957604371"/>
    <p:sldId xmlns:r="http://schemas.openxmlformats.org/officeDocument/2006/relationships" id="262" r:id="R1240ea01b6a2412c"/>
    <p:sldId xmlns:r="http://schemas.openxmlformats.org/officeDocument/2006/relationships" id="263" r:id="R5e6ad1adb65a450c"/>
    <p:sldId xmlns:r="http://schemas.openxmlformats.org/officeDocument/2006/relationships" id="264" r:id="R9e7f4b0be9864dcc"/>
    <p:sldId xmlns:r="http://schemas.openxmlformats.org/officeDocument/2006/relationships" id="265" r:id="R32ae5d49fb69439e"/>
    <p:sldId xmlns:r="http://schemas.openxmlformats.org/officeDocument/2006/relationships" id="266" r:id="Rd9477693b7804a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ccca67e2064a09" /><Relationship Type="http://schemas.openxmlformats.org/officeDocument/2006/relationships/slideMaster" Target="/ppt/slideMasters/slideMaster1.xml" Id="R1d3c8eaeefd74467" /><Relationship Type="http://schemas.openxmlformats.org/officeDocument/2006/relationships/notesMaster" Target="/ppt/notesMasters/notesMaster1.xml" Id="R54657a30303e4ea1" /><Relationship Type="http://schemas.openxmlformats.org/officeDocument/2006/relationships/presProps" Target="/ppt/presProps.xml" Id="Rb31debffa2fc4b8d" /><Relationship Type="http://schemas.openxmlformats.org/officeDocument/2006/relationships/tableStyles" Target="/ppt/tableStyles.xml" Id="R715245607fdf4292" /><Relationship Type="http://schemas.openxmlformats.org/officeDocument/2006/relationships/slide" Target="/ppt/slides/slide1.xml" Id="R44060b33a34441ae" /><Relationship Type="http://schemas.openxmlformats.org/officeDocument/2006/relationships/slide" Target="/ppt/slides/slide2.xml" Id="R0c7cf78b58024588" /><Relationship Type="http://schemas.openxmlformats.org/officeDocument/2006/relationships/slide" Target="/ppt/slides/slide3.xml" Id="R1479708a091e4321" /><Relationship Type="http://schemas.openxmlformats.org/officeDocument/2006/relationships/slide" Target="/ppt/slides/slide4.xml" Id="Ree92d46e40154f10" /><Relationship Type="http://schemas.openxmlformats.org/officeDocument/2006/relationships/slide" Target="/ppt/slides/slide5.xml" Id="Rc79f33d9a9c240cf" /><Relationship Type="http://schemas.openxmlformats.org/officeDocument/2006/relationships/slide" Target="/ppt/slides/slide6.xml" Id="Rabf4da2957604371" /><Relationship Type="http://schemas.openxmlformats.org/officeDocument/2006/relationships/slide" Target="/ppt/slides/slide7.xml" Id="R1240ea01b6a2412c" /><Relationship Type="http://schemas.openxmlformats.org/officeDocument/2006/relationships/slide" Target="/ppt/slides/slide8.xml" Id="R5e6ad1adb65a450c" /><Relationship Type="http://schemas.openxmlformats.org/officeDocument/2006/relationships/slide" Target="/ppt/slides/slide9.xml" Id="R9e7f4b0be9864dcc" /><Relationship Type="http://schemas.openxmlformats.org/officeDocument/2006/relationships/slide" Target="/ppt/slides/slide10.xml" Id="R32ae5d49fb69439e" /><Relationship Type="http://schemas.openxmlformats.org/officeDocument/2006/relationships/slide" Target="/ppt/slides/slide11.xml" Id="Rd9477693b7804a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7c3fb62a7f4d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ed81e9caa642da" /><Relationship Type="http://schemas.openxmlformats.org/officeDocument/2006/relationships/notesMaster" Target="/ppt/notesMasters/notesMaster1.xml" Id="R729c932f899244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d930e8fd914eec" /><Relationship Type="http://schemas.openxmlformats.org/officeDocument/2006/relationships/notesMaster" Target="/ppt/notesMasters/notesMaster1.xml" Id="R7f96667e55ca40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6eac98825c416c" /><Relationship Type="http://schemas.openxmlformats.org/officeDocument/2006/relationships/notesMaster" Target="/ppt/notesMasters/notesMaster1.xml" Id="R38eb9e6f4eb94d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1fdca53192475b" /><Relationship Type="http://schemas.openxmlformats.org/officeDocument/2006/relationships/notesMaster" Target="/ppt/notesMasters/notesMaster1.xml" Id="Rd92e1bce62cc49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868d854e374313" /><Relationship Type="http://schemas.openxmlformats.org/officeDocument/2006/relationships/notesMaster" Target="/ppt/notesMasters/notesMaster1.xml" Id="Rd087c2a78daf46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1b6d336f094016" /><Relationship Type="http://schemas.openxmlformats.org/officeDocument/2006/relationships/notesMaster" Target="/ppt/notesMasters/notesMaster1.xml" Id="R9d40b6eabfe54b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2240f5d3184ef6" /><Relationship Type="http://schemas.openxmlformats.org/officeDocument/2006/relationships/notesMaster" Target="/ppt/notesMasters/notesMaster1.xml" Id="R5b4d22be7ce641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d84853fa4742b7" /><Relationship Type="http://schemas.openxmlformats.org/officeDocument/2006/relationships/notesMaster" Target="/ppt/notesMasters/notesMaster1.xml" Id="Ra8bb4abf06eb41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3b9652ad984388" /><Relationship Type="http://schemas.openxmlformats.org/officeDocument/2006/relationships/notesMaster" Target="/ppt/notesMasters/notesMaster1.xml" Id="Re435e570441e43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97b3deb2c94c5c" /><Relationship Type="http://schemas.openxmlformats.org/officeDocument/2006/relationships/notesMaster" Target="/ppt/notesMasters/notesMaster1.xml" Id="Rfefbc21e48d744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1151b5bfcf41c4" /><Relationship Type="http://schemas.openxmlformats.org/officeDocument/2006/relationships/notesMaster" Target="/ppt/notesMasters/notesMaster1.xml" Id="R39b38067a17c44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concept developed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Problem scenario is the team's project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No external visual assets. Claims based on the team's literature, technology and data research reports.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SDG framing is an interpretation for the capstone context; official UN SDG wording should be cited in final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Naumzik et al. (2022); Fraud Detection Handbook (2022); Mastercard Merchant Monitoring; Visa merchant risk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 schema follows the team's revised data research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Technology choices follow the revised technology report; CatBoost/LightGBM, complaint NLP, anomaly scoring and human-in-the-loop risk fusion.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Risk bands shown are illustrative PoC thresholds, not a bank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Competitor categories based on public product positioning reviewed by the team: iyzico, Riskified, Forter, Sift, Ethoca, Verifi, merchant KYB providers.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Implementation plan is the team's proposed proof-of-concept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Closing synthesis of the project concept.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d1bdfc3d244d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a9ab15b1ed407f" /><Relationship Type="http://schemas.openxmlformats.org/officeDocument/2006/relationships/slideLayout" Target="/ppt/slideLayouts/slideLayout1.xml" Id="R0ec7c72ea7a649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c7c72ea7a649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2deaaf8604981" /><Relationship Type="http://schemas.openxmlformats.org/officeDocument/2006/relationships/notesSlide" Target="/ppt/notesSlides/notesSlide1.xml" Id="R373af8e1b32245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8b5f3ecd14551" /><Relationship Type="http://schemas.openxmlformats.org/officeDocument/2006/relationships/notesSlide" Target="/ppt/notesSlides/notesSlide2.xml" Id="R37e7a910037344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0a9d08cab4d01" /><Relationship Type="http://schemas.openxmlformats.org/officeDocument/2006/relationships/notesSlide" Target="/ppt/notesSlides/notesSlide3.xml" Id="Ra6f9b432d6a44c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24950cd6e4e35" /><Relationship Type="http://schemas.openxmlformats.org/officeDocument/2006/relationships/notesSlide" Target="/ppt/notesSlides/notesSlide4.xml" Id="R01d7564881b947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7062398b54872" /><Relationship Type="http://schemas.openxmlformats.org/officeDocument/2006/relationships/notesSlide" Target="/ppt/notesSlides/notesSlide5.xml" Id="R90a79460a23640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96bf767334507" /><Relationship Type="http://schemas.openxmlformats.org/officeDocument/2006/relationships/notesSlide" Target="/ppt/notesSlides/notesSlide6.xml" Id="R6f5de2b88e244b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ce557786f419b" /><Relationship Type="http://schemas.openxmlformats.org/officeDocument/2006/relationships/notesSlide" Target="/ppt/notesSlides/notesSlide7.xml" Id="Ra761f3e1a1f347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25990b0524086" /><Relationship Type="http://schemas.openxmlformats.org/officeDocument/2006/relationships/notesSlide" Target="/ppt/notesSlides/notesSlide8.xml" Id="R862a964c30c142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fc7e61a48433b" /><Relationship Type="http://schemas.openxmlformats.org/officeDocument/2006/relationships/notesSlide" Target="/ppt/notesSlides/notesSlide9.xml" Id="Rb856ea6806974f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1256f5b67420c" /><Relationship Type="http://schemas.openxmlformats.org/officeDocument/2006/relationships/notesSlide" Target="/ppt/notesSlides/notesSlide10.xml" Id="Red244ded133748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afcdfb5ca4185" /><Relationship Type="http://schemas.openxmlformats.org/officeDocument/2006/relationships/notesSlide" Target="/ppt/notesSlides/notesSlide11.xml" Id="Rcb96b4e002634b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03115-1924-40F9-A7AA-897B5593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D3C2"/>
                </a:solidFill>
              </a:defRPr>
            </a:pPr>
            <a:r>
              <a:rPr sz="1350" b="1">
                <a:solidFill>
                  <a:srgbClr val="29D3C2"/>
                </a:solidFill>
              </a:rPr>
              <a:t>CHARGESHIELD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FAD86-CB5D-4CCA-AD57-E9468227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28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AFC"/>
                </a:solidFill>
              </a:defRPr>
            </a:pPr>
            <a:r>
              <a:rPr sz="4350" b="1">
                <a:solidFill>
                  <a:srgbClr val="F5FAFC"/>
                </a:solidFill>
              </a:rPr>
              <a:t>Sanal POS</a:t>
            </a:r>
          </a:p>
          <a:p xmlns:a="http://schemas.openxmlformats.org/drawingml/2006/main">
            <a:pPr algn="l">
              <a:defRPr sz="4350" b="1">
                <a:solidFill>
                  <a:srgbClr val="F5FAFC"/>
                </a:solidFill>
              </a:defRPr>
            </a:pPr>
            <a:r>
              <a:rPr sz="4350" b="1">
                <a:solidFill>
                  <a:srgbClr val="F5FAFC"/>
                </a:solidFill>
              </a:rPr>
              <a:t>için erken risk</a:t>
            </a:r>
          </a:p>
          <a:p xmlns:a="http://schemas.openxmlformats.org/drawingml/2006/main">
            <a:pPr algn="l">
              <a:defRPr sz="4350" b="1">
                <a:solidFill>
                  <a:srgbClr val="F5FAFC"/>
                </a:solidFill>
              </a:defRPr>
            </a:pPr>
            <a:r>
              <a:rPr sz="4350" b="1">
                <a:solidFill>
                  <a:srgbClr val="F5FAFC"/>
                </a:solidFill>
              </a:rPr>
              <a:t>uyarısı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B1907-3356-436D-8B13-4BC7D75A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552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EC8"/>
                </a:solidFill>
              </a:defRPr>
            </a:pPr>
            <a:r>
              <a:rPr sz="1725" b="0">
                <a:solidFill>
                  <a:srgbClr val="A9BEC8"/>
                </a:solidFill>
              </a:rPr>
              <a:t>Bloke süresi dolmadan önce, hizmet sunamayan</a:t>
            </a:r>
          </a:p>
          <a:p xmlns:a="http://schemas.openxmlformats.org/drawingml/2006/main">
            <a:pPr algn="l">
              <a:defRPr sz="1725" b="0">
                <a:solidFill>
                  <a:srgbClr val="A9BEC8"/>
                </a:solidFill>
              </a:defRPr>
            </a:pPr>
            <a:r>
              <a:rPr sz="1725" b="0">
                <a:solidFill>
                  <a:srgbClr val="A9BEC8"/>
                </a:solidFill>
              </a:rPr>
              <a:t>ve müşterileri oyalayan merchant’ları fark 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09A89-7F66-49A2-BD8B-6778C671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3048000" cy="3619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E2633"/>
          </a:solidFill>
          <a:ln xmlns:a="http://schemas.openxmlformats.org/drawingml/2006/main" w="9525">
            <a:solidFill>
              <a:srgbClr val="24455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B833E-C91E-4C7C-A290-B02AB026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1285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3E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EB825-53DB-4CD2-B6FF-60027AFE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24000"/>
            <a:ext cx="66675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E6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EA9D2-446C-4441-866F-2DBE2571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24000"/>
            <a:ext cx="619125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E6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23879-0AE0-43C4-960E-C6C52FB2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240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D3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6D5B4-5984-43BE-BCE8-2FB0DB68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987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D3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72318-7D4F-46C1-B912-BA61DA40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809875"/>
            <a:ext cx="619125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E6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D3F91-F55F-4163-90E4-04871375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43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D3C2"/>
          </a:solidFill>
          <a:ln xmlns:a="http://schemas.openxmlformats.org/drawingml/2006/main" w="0">
            <a:solidFill>
              <a:srgbClr val="29D3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7D6BF-2C50-4529-831F-6C620BA0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33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E6FF"/>
          </a:solidFill>
          <a:ln xmlns:a="http://schemas.openxmlformats.org/drawingml/2006/main" w="0">
            <a:solidFill>
              <a:srgbClr val="63E6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CD063-4454-4836-A8FC-B35E23F2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61950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AFC"/>
                </a:solidFill>
              </a:defRPr>
            </a:pPr>
            <a:r>
              <a:rPr sz="1500" b="1">
                <a:solidFill>
                  <a:srgbClr val="F5FAFC"/>
                </a:solidFill>
              </a:rPr>
              <a:t>risk</a:t>
            </a:r>
          </a:p>
          <a:p xmlns:a="http://schemas.openxmlformats.org/drawingml/2006/main">
            <a:pPr algn="ctr">
              <a:defRPr sz="1500" b="1">
                <a:solidFill>
                  <a:srgbClr val="F5FAFC"/>
                </a:solidFill>
              </a:defRPr>
            </a:pPr>
            <a:r>
              <a:rPr sz="1500" b="1">
                <a:solidFill>
                  <a:srgbClr val="F5FAFC"/>
                </a:solidFill>
              </a:rPr>
              <a:t>sinyali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B1B3E2-AD0B-42D4-9B2A-BE28C7E2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243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EC8"/>
                </a:solidFill>
              </a:defRPr>
            </a:pPr>
            <a:r>
              <a:rPr sz="1200" b="0">
                <a:solidFill>
                  <a:srgbClr val="A9BEC8"/>
                </a:solidFill>
              </a:rPr>
              <a:t>Banka verisi  ×  müşteri sesi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92689-F4D7-483E-9302-775B8DD1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8"/>
                </a:solidFill>
              </a:defRPr>
            </a:pPr>
            <a:r>
              <a:rPr sz="1125" b="0">
                <a:solidFill>
                  <a:srgbClr val="A9BEC8"/>
                </a:solidFill>
              </a:rPr>
              <a:t>Samsung AI &amp; Marketing Innovation Campus  •  Capstone</a:t>
            </a:r>
          </a:p>
        </p:txBody>
      </p:sp>
    </p:spTree>
    <p:extLst>
      <p:ext uri="{BB962C8B-B14F-4D97-AF65-F5344CB8AC3E}">
        <p14:creationId xmlns:p14="http://schemas.microsoft.com/office/powerpoint/2010/main" val="19854890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E74D23-2A7F-4F8E-9422-D44D2422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D3C2"/>
                </a:solidFill>
              </a:defRPr>
            </a:pPr>
            <a:r>
              <a:rPr sz="1350" b="1">
                <a:solidFill>
                  <a:srgbClr val="29D3C2"/>
                </a:solidFill>
              </a:rPr>
              <a:t>01 /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95206-FE6E-44C7-92E9-782881AB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AFC"/>
                </a:solidFill>
              </a:defRPr>
            </a:pPr>
            <a:r>
              <a:rPr sz="2700" b="1">
                <a:solidFill>
                  <a:srgbClr val="F5FAFC"/>
                </a:solidFill>
              </a:rPr>
              <a:t>Para firmaya geçmeden önce sinyali yakalamak gerekiyor.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42E6E-390E-4B79-99EF-D3765536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EC8"/>
                </a:solidFill>
              </a:defRPr>
            </a:pPr>
            <a:r>
              <a:rPr sz="1350" b="0">
                <a:solidFill>
                  <a:srgbClr val="A9BEC8"/>
                </a:solidFill>
              </a:rPr>
              <a:t>Müşteri mağduriyeti bankanın zararına dönüşmeden önce, inceleme için kısa bir pencere var.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6640B-DED5-40BF-AB0B-E4F68BB3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956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455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6443B-BE5F-43C7-9DD4-1ADB7F79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D3C2"/>
          </a:solidFill>
          <a:ln xmlns:a="http://schemas.openxmlformats.org/drawingml/2006/main" w="0">
            <a:solidFill>
              <a:srgbClr val="29D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766E4-C29F-4050-8937-2EBC6B56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51F"/>
                </a:solidFill>
              </a:defRPr>
            </a:pPr>
            <a:r>
              <a:rPr sz="16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4ACD5-6F9C-4C35-A3B1-471CC41D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766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AFC"/>
                </a:solidFill>
              </a:defRPr>
            </a:pPr>
            <a:r>
              <a:rPr sz="1500" b="1">
                <a:solidFill>
                  <a:srgbClr val="F5FAFC"/>
                </a:solidFill>
              </a:rPr>
              <a:t>Ödeme alınır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CE1A5-49D3-4C9F-95C7-C77F19F7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71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EC8"/>
                </a:solidFill>
              </a:defRPr>
            </a:pPr>
            <a:r>
              <a:rPr sz="1125" b="0">
                <a:solidFill>
                  <a:srgbClr val="A9BEC8"/>
                </a:solidFill>
              </a:rPr>
              <a:t>Sanal POS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90D9A-CF7D-46EB-AAA8-98A4F4BE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956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45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7848B-1879-4F9F-B6A6-E90507A0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62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D3C2"/>
          </a:solidFill>
          <a:ln xmlns:a="http://schemas.openxmlformats.org/drawingml/2006/main" w="0">
            <a:solidFill>
              <a:srgbClr val="29D3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29DD6-5882-4F0F-B0F9-AECAC394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0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51F"/>
                </a:solidFill>
              </a:defRPr>
            </a:pPr>
            <a:r>
              <a:rPr sz="16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D39C2-F1E5-4B4B-920E-D4DAC7D5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766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AFC"/>
                </a:solidFill>
              </a:defRPr>
            </a:pPr>
            <a:r>
              <a:rPr sz="1500" b="1">
                <a:solidFill>
                  <a:srgbClr val="F5FAFC"/>
                </a:solidFill>
              </a:rPr>
              <a:t>Hizmet gecikir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4F30F9-44E8-47B6-AB58-6429D894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171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EC8"/>
                </a:solidFill>
              </a:defRPr>
            </a:pPr>
            <a:r>
              <a:rPr sz="1125" b="0">
                <a:solidFill>
                  <a:srgbClr val="A9BEC8"/>
                </a:solidFill>
              </a:rPr>
              <a:t>“Yarın çözeceğiz”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5817E-D4E9-425E-8372-4ED2D0EF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956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45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1D939-AB07-4F0D-BA80-77A4CAF5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62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B"/>
          </a:solidFill>
          <a:ln xmlns:a="http://schemas.openxmlformats.org/drawingml/2006/main" w="0">
            <a:solidFill>
              <a:srgbClr val="FFB8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C2648-DF56-4F40-B4A9-E31F86EE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0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51F"/>
                </a:solidFill>
              </a:defRPr>
            </a:pPr>
            <a:r>
              <a:rPr sz="16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25A72C-45F0-49D8-8648-6DFE6DBE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766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AFC"/>
                </a:solidFill>
              </a:defRPr>
            </a:pPr>
            <a:r>
              <a:rPr sz="1500" b="1">
                <a:solidFill>
                  <a:srgbClr val="F5FAFC"/>
                </a:solidFill>
              </a:rPr>
              <a:t>Müşteri oyalanır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E74CC4-F42B-4924-ABDD-D96016FD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71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EC8"/>
                </a:solidFill>
              </a:defRPr>
            </a:pPr>
            <a:r>
              <a:rPr sz="1125" b="0">
                <a:solidFill>
                  <a:srgbClr val="A9BEC8"/>
                </a:solidFill>
              </a:rPr>
              <a:t>Şikâyetler artar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8800B4-5C17-41AE-B420-00B47F88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D3C2"/>
          </a:solidFill>
          <a:ln xmlns:a="http://schemas.openxmlformats.org/drawingml/2006/main" w="0">
            <a:solidFill>
              <a:srgbClr val="29D3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ED4643-C36D-48A5-9788-02D678A8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0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51F"/>
                </a:solidFill>
              </a:defRPr>
            </a:pPr>
            <a:r>
              <a:rPr sz="16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C20285-8E36-4B31-A842-509FB430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766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AFC"/>
                </a:solidFill>
              </a:defRPr>
            </a:pPr>
            <a:r>
              <a:rPr sz="1500" b="1">
                <a:solidFill>
                  <a:srgbClr val="F5FAFC"/>
                </a:solidFill>
              </a:rPr>
              <a:t>Chargeback</a:t>
            </a:r>
          </a:p>
          <a:p xmlns:a="http://schemas.openxmlformats.org/drawingml/2006/main">
            <a:pPr algn="ctr">
              <a:defRPr sz="1500" b="1">
                <a:solidFill>
                  <a:srgbClr val="F5FAFC"/>
                </a:solidFill>
              </a:defRPr>
            </a:pPr>
            <a:r>
              <a:rPr sz="1500" b="1">
                <a:solidFill>
                  <a:srgbClr val="F5FAFC"/>
                </a:solidFill>
              </a:rPr>
              <a:t>zararı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214722-B42D-4149-ADA3-B8F40C54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71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EC8"/>
                </a:solidFill>
              </a:defRPr>
            </a:pPr>
            <a:r>
              <a:rPr sz="1125" b="0">
                <a:solidFill>
                  <a:srgbClr val="A9BEC8"/>
                </a:solidFill>
              </a:rPr>
              <a:t>Firma kaybolur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D060FD-72BF-4C23-ADFB-EE92156E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6477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E2633"/>
          </a:solidFill>
          <a:ln xmlns:a="http://schemas.openxmlformats.org/drawingml/2006/main" w="9525">
            <a:solidFill>
              <a:srgbClr val="2445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AF6E38-468B-4CEF-B8D8-804155F6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0540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3E6FF"/>
                </a:solidFill>
              </a:defRPr>
            </a:pPr>
            <a:r>
              <a:rPr sz="1425" b="1">
                <a:solidFill>
                  <a:srgbClr val="63E6FF"/>
                </a:solidFill>
              </a:rPr>
              <a:t>Amaç: “firma dolandırıcıdır” demek değil; “bu merchant incelenmeli” demek.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392B8C-D868-4F86-8E99-1A58FADB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BEC8"/>
                </a:solidFill>
              </a:defRPr>
            </a:pPr>
            <a:r>
              <a:rPr sz="900" b="1">
                <a:solidFill>
                  <a:srgbClr val="A9BEC8"/>
                </a:solidFill>
              </a:rPr>
              <a:t>CHARGESHIELD  /  SANAL POS ERKEN RİSK UYARISI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57BCF1-1B54-4ABA-9E46-DB92AA1E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EC8"/>
                </a:solidFill>
              </a:defRPr>
            </a:pPr>
            <a:r>
              <a:rPr sz="900" b="1">
                <a:solidFill>
                  <a:srgbClr val="A9BEC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412934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EAF7AB-960C-4466-AFE9-57A44ED3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D3C2"/>
                </a:solidFill>
              </a:defRPr>
            </a:pPr>
            <a:r>
              <a:rPr sz="1350" b="1">
                <a:solidFill>
                  <a:srgbClr val="29D3C2"/>
                </a:solidFill>
              </a:rPr>
              <a:t>02 / PROJE FIKRI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65CCC-4C9E-42EB-AADC-EF2D0370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AFC"/>
                </a:solidFill>
              </a:defRPr>
            </a:pPr>
            <a:r>
              <a:rPr sz="2700" b="1">
                <a:solidFill>
                  <a:srgbClr val="F5FAFC"/>
                </a:solidFill>
              </a:rPr>
              <a:t>ChargeShield, merchant’ın bozulmasını günlük olarak izler.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F9419-F28C-42AB-BB56-F59FCF94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EC8"/>
                </a:solidFill>
              </a:defRPr>
            </a:pPr>
            <a:r>
              <a:rPr sz="1350" b="0">
                <a:solidFill>
                  <a:srgbClr val="A9BEC8"/>
                </a:solidFill>
              </a:rPr>
              <a:t>Tek işlem yerine işyerinin zaman içindeki davranışına bakar.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450F9-27FA-416F-8D56-DB07AFD5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857500" cy="2047875"/>
          </a:xfrm>
          <a:prstGeom xmlns:a="http://schemas.openxmlformats.org/drawingml/2006/main" prst="roundRect">
            <a:avLst>
              <a:gd name="adj" fmla="val 7442"/>
            </a:avLst>
          </a:prstGeom>
          <a:solidFill xmlns:a="http://schemas.openxmlformats.org/drawingml/2006/main">
            <a:srgbClr val="0E2633"/>
          </a:solidFill>
          <a:ln xmlns:a="http://schemas.openxmlformats.org/drawingml/2006/main" w="9525">
            <a:solidFill>
              <a:srgbClr val="24455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AF4ED-524C-4119-AFB5-A9367928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7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D3C2"/>
                </a:solidFill>
              </a:defRPr>
            </a:pPr>
            <a:r>
              <a:rPr sz="1350" b="1">
                <a:solidFill>
                  <a:srgbClr val="29D3C2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99846-0CDA-4CC1-82E7-4D8D9DFE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480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AFC"/>
                </a:solidFill>
              </a:defRPr>
            </a:pPr>
            <a:r>
              <a:rPr sz="1875" b="1">
                <a:solidFill>
                  <a:srgbClr val="F5FAFC"/>
                </a:solidFill>
              </a:rPr>
              <a:t>Merchant profili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AF34B-EBCB-4676-AC60-7E930572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242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EC8"/>
                </a:solidFill>
              </a:defRPr>
            </a:pPr>
            <a:r>
              <a:rPr sz="1350" b="0">
                <a:solidFill>
                  <a:srgbClr val="A9BEC8"/>
                </a:solidFill>
              </a:rPr>
              <a:t>Banka POS kayıtları</a:t>
            </a:r>
          </a:p>
          <a:p xmlns:a="http://schemas.openxmlformats.org/drawingml/2006/main">
            <a:pPr algn="l">
              <a:defRPr sz="1350" b="0">
                <a:solidFill>
                  <a:srgbClr val="A9BEC8"/>
                </a:solidFill>
              </a:defRPr>
            </a:pPr>
            <a:r>
              <a:rPr sz="1350" b="0">
                <a:solidFill>
                  <a:srgbClr val="A9BEC8"/>
                </a:solidFill>
              </a:rPr>
              <a:t>ve risk geçmişi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D5C3D-3EFC-40BA-8104-5A318546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2857500" cy="2047875"/>
          </a:xfrm>
          <a:prstGeom xmlns:a="http://schemas.openxmlformats.org/drawingml/2006/main" prst="roundRect">
            <a:avLst>
              <a:gd name="adj" fmla="val 7442"/>
            </a:avLst>
          </a:prstGeom>
          <a:solidFill xmlns:a="http://schemas.openxmlformats.org/drawingml/2006/main">
            <a:srgbClr val="0E2633"/>
          </a:solidFill>
          <a:ln xmlns:a="http://schemas.openxmlformats.org/drawingml/2006/main" w="9525">
            <a:solidFill>
              <a:srgbClr val="2445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3D66A-4A74-40F8-87C4-EDE6CCD1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7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D3C2"/>
                </a:solidFill>
              </a:defRPr>
            </a:pPr>
            <a:r>
              <a:rPr sz="1350" b="1">
                <a:solidFill>
                  <a:srgbClr val="29D3C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0FD28-BC2B-45C9-B4E4-149D6B7F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480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AFC"/>
                </a:solidFill>
              </a:defRPr>
            </a:pPr>
            <a:r>
              <a:rPr sz="1875" b="1">
                <a:solidFill>
                  <a:srgbClr val="F5FAFC"/>
                </a:solidFill>
              </a:rPr>
              <a:t>Müşteri sesi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E2510-E34A-40DB-A1B4-950282E6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242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EC8"/>
                </a:solidFill>
              </a:defRPr>
            </a:pPr>
            <a:r>
              <a:rPr sz="1350" b="0">
                <a:solidFill>
                  <a:srgbClr val="A9BEC8"/>
                </a:solidFill>
              </a:rPr>
              <a:t>Şikâyet, yorum,</a:t>
            </a:r>
          </a:p>
          <a:p xmlns:a="http://schemas.openxmlformats.org/drawingml/2006/main">
            <a:pPr algn="l">
              <a:defRPr sz="1350" b="0">
                <a:solidFill>
                  <a:srgbClr val="A9BEC8"/>
                </a:solidFill>
              </a:defRPr>
            </a:pPr>
            <a:r>
              <a:rPr sz="1350" b="0">
                <a:solidFill>
                  <a:srgbClr val="A9BEC8"/>
                </a:solidFill>
              </a:rPr>
              <a:t>OCR başvuruları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D4855-7FC9-4119-9558-C34E754B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2857500" cy="2047875"/>
          </a:xfrm>
          <a:prstGeom xmlns:a="http://schemas.openxmlformats.org/drawingml/2006/main" prst="roundRect">
            <a:avLst>
              <a:gd name="adj" fmla="val 7442"/>
            </a:avLst>
          </a:prstGeom>
          <a:solidFill xmlns:a="http://schemas.openxmlformats.org/drawingml/2006/main">
            <a:srgbClr val="0E2633"/>
          </a:solidFill>
          <a:ln xmlns:a="http://schemas.openxmlformats.org/drawingml/2006/main" w="9525">
            <a:solidFill>
              <a:srgbClr val="2445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7B8AD3-99C9-44D8-9E21-B291F33E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7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D3C2"/>
                </a:solidFill>
              </a:defRPr>
            </a:pPr>
            <a:r>
              <a:rPr sz="1350" b="1">
                <a:solidFill>
                  <a:srgbClr val="29D3C2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78FB0-19F2-4D42-B784-47C65119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480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AFC"/>
                </a:solidFill>
              </a:defRPr>
            </a:pPr>
            <a:r>
              <a:rPr sz="1875" b="1">
                <a:solidFill>
                  <a:srgbClr val="F5FAFC"/>
                </a:solidFill>
              </a:rPr>
              <a:t>Erken alarm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5BDCE-71F0-4617-9AE1-1BF48713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242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EC8"/>
                </a:solidFill>
              </a:defRPr>
            </a:pPr>
            <a:r>
              <a:rPr sz="1350" b="0">
                <a:solidFill>
                  <a:srgbClr val="A9BEC8"/>
                </a:solidFill>
              </a:rPr>
              <a:t>Bloke/hakediş öncesi</a:t>
            </a:r>
          </a:p>
          <a:p xmlns:a="http://schemas.openxmlformats.org/drawingml/2006/main">
            <a:pPr algn="l">
              <a:defRPr sz="1350" b="0">
                <a:solidFill>
                  <a:srgbClr val="A9BEC8"/>
                </a:solidFill>
              </a:defRPr>
            </a:pPr>
            <a:r>
              <a:rPr sz="1350" b="0">
                <a:solidFill>
                  <a:srgbClr val="A9BEC8"/>
                </a:solidFill>
              </a:rPr>
              <a:t>inceleme önerisi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ABB60-AD22-44DE-BE2C-39AEC87E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AFC"/>
                </a:solidFill>
              </a:defRPr>
            </a:pPr>
            <a:r>
              <a:rPr sz="1650" b="1">
                <a:solidFill>
                  <a:srgbClr val="F5FAFC"/>
                </a:solidFill>
              </a:rPr>
              <a:t>Çıktı otomatik POS kapatma değil, açıklanabilir bir inceleme önceliğidir.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0DE797-11BC-4E3F-BB04-055F4D61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BEC8"/>
                </a:solidFill>
              </a:defRPr>
            </a:pPr>
            <a:r>
              <a:rPr sz="900" b="1">
                <a:solidFill>
                  <a:srgbClr val="A9BEC8"/>
                </a:solidFill>
              </a:rPr>
              <a:t>CHARGESHIELD  /  SANAL POS ERKEN RİSK UYARISI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C07E1B-236B-4BBA-A613-3239BE2C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EC8"/>
                </a:solidFill>
              </a:defRPr>
            </a:pPr>
            <a:r>
              <a:rPr sz="900" b="1">
                <a:solidFill>
                  <a:srgbClr val="A9BEC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685667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0DAE34-A739-4D34-8651-1FEFFDF3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D3C2"/>
                </a:solidFill>
              </a:defRPr>
            </a:pPr>
            <a:r>
              <a:rPr sz="1350" b="1">
                <a:solidFill>
                  <a:srgbClr val="29D3C2"/>
                </a:solidFill>
              </a:rPr>
              <a:t>03 / SDG BAĞLANTISI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409E9-198A-490D-AB16-C4DF7AE7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AFC"/>
                </a:solidFill>
              </a:defRPr>
            </a:pPr>
            <a:r>
              <a:rPr sz="2700" b="1">
                <a:solidFill>
                  <a:srgbClr val="F5FAFC"/>
                </a:solidFill>
              </a:rPr>
              <a:t>Finansal güveni korumak, dijital ticareti daha dayanıklı kılar.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81805-4F71-418E-8B81-F4818FF9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EC8"/>
                </a:solidFill>
              </a:defRPr>
            </a:pPr>
            <a:r>
              <a:rPr sz="1350" b="0">
                <a:solidFill>
                  <a:srgbClr val="A9BEC8"/>
                </a:solidFill>
              </a:rPr>
              <a:t>Proje doğrudan kampanya optimizasyonu değil; güven, sorumlu inovasyon ve ekonomik kaybın azaltılması odağında.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38C0E-369F-4C23-AE17-6D61029B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9906000" cy="895350"/>
          </a:xfrm>
          <a:prstGeom xmlns:a="http://schemas.openxmlformats.org/drawingml/2006/main" prst="roundRect">
            <a:avLst>
              <a:gd name="adj" fmla="val 1276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4455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18CFA-AE82-442D-9ED0-2A14A92C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9D3C2"/>
                </a:solidFill>
              </a:defRPr>
            </a:pPr>
            <a:r>
              <a:rPr sz="1950" b="1">
                <a:solidFill>
                  <a:srgbClr val="29D3C2"/>
                </a:solidFill>
              </a:rPr>
              <a:t>SDG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15A5C-0374-49CF-B70D-29967AED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AFC"/>
                </a:solidFill>
              </a:defRPr>
            </a:pPr>
            <a:r>
              <a:rPr sz="1500" b="1">
                <a:solidFill>
                  <a:srgbClr val="F5FAFC"/>
                </a:solidFill>
              </a:rPr>
              <a:t>İnsana Yakışır İş ve Ekonomik Büyüme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BBB4E-2985-4465-B665-6EF477C2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0510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EC8"/>
                </a:solidFill>
              </a:defRPr>
            </a:pPr>
            <a:r>
              <a:rPr sz="1275" b="0">
                <a:solidFill>
                  <a:srgbClr val="A9BEC8"/>
                </a:solidFill>
              </a:rPr>
              <a:t>Sağlıklı merchant ilişkileri ve sürdürülebilir ticaret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7C001-1171-45BB-9110-6B2CB14B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9906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0E2633"/>
          </a:solidFill>
          <a:ln xmlns:a="http://schemas.openxmlformats.org/drawingml/2006/main" w="9525">
            <a:solidFill>
              <a:srgbClr val="2445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C508F-6118-4E98-9A89-42F99DD8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480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9D3C2"/>
                </a:solidFill>
              </a:defRPr>
            </a:pPr>
            <a:r>
              <a:rPr sz="1950" b="1">
                <a:solidFill>
                  <a:srgbClr val="29D3C2"/>
                </a:solidFill>
              </a:rPr>
              <a:t>SDG 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E2386-EF83-4344-A191-14185FF3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909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AFC"/>
                </a:solidFill>
              </a:defRPr>
            </a:pPr>
            <a:r>
              <a:rPr sz="1500" b="1">
                <a:solidFill>
                  <a:srgbClr val="F5FAFC"/>
                </a:solidFill>
              </a:rPr>
              <a:t>Sanayi, Yenilikçilik ve Altyapı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359C4-073B-4155-AA11-EFF120FE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95725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EC8"/>
                </a:solidFill>
              </a:defRPr>
            </a:pPr>
            <a:r>
              <a:rPr sz="1275" b="0">
                <a:solidFill>
                  <a:srgbClr val="A9BEC8"/>
                </a:solidFill>
              </a:rPr>
              <a:t>Açıklanabilir AI ile dayanıklı ödeme altyapısı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C1A23-9238-4900-B603-845E4EDC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9906000" cy="895350"/>
          </a:xfrm>
          <a:prstGeom xmlns:a="http://schemas.openxmlformats.org/drawingml/2006/main" prst="roundRect">
            <a:avLst>
              <a:gd name="adj" fmla="val 1276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445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E76D1-265D-425C-AEF7-B10CB160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387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9D3C2"/>
                </a:solidFill>
              </a:defRPr>
            </a:pPr>
            <a:r>
              <a:rPr sz="1950" b="1">
                <a:solidFill>
                  <a:srgbClr val="29D3C2"/>
                </a:solidFill>
              </a:rPr>
              <a:t>SDG 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747C7-ED1E-4171-A7E5-36FE6DF3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81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AFC"/>
                </a:solidFill>
              </a:defRPr>
            </a:pPr>
            <a:r>
              <a:rPr sz="1500" b="1">
                <a:solidFill>
                  <a:srgbClr val="F5FAFC"/>
                </a:solidFill>
              </a:rPr>
              <a:t>Sorumlu Üretim ve Tüketim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E9C24-4424-4035-9172-D4C268AD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863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EC8"/>
                </a:solidFill>
              </a:defRPr>
            </a:pPr>
            <a:r>
              <a:rPr sz="1275" b="0">
                <a:solidFill>
                  <a:srgbClr val="A9BEC8"/>
                </a:solidFill>
              </a:rPr>
              <a:t>Ödeme alınan hizmetin gerçekten sunulmasını destekleme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3AF6CC-6959-4936-B53B-30417D89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BEC8"/>
                </a:solidFill>
              </a:defRPr>
            </a:pPr>
            <a:r>
              <a:rPr sz="900" b="1">
                <a:solidFill>
                  <a:srgbClr val="A9BEC8"/>
                </a:solidFill>
              </a:rPr>
              <a:t>CHARGESHIELD  /  SANAL POS ERKEN RİSK UYARISI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BE020-E2E8-41E2-BB59-548609F1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EC8"/>
                </a:solidFill>
              </a:defRPr>
            </a:pPr>
            <a:r>
              <a:rPr sz="900" b="1">
                <a:solidFill>
                  <a:srgbClr val="A9BEC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600367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57581F-6883-4C8D-94DA-E2AEABDB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D3C2"/>
                </a:solidFill>
              </a:defRPr>
            </a:pPr>
            <a:r>
              <a:rPr sz="1350" b="1">
                <a:solidFill>
                  <a:srgbClr val="29D3C2"/>
                </a:solidFill>
              </a:rPr>
              <a:t>04 / LITERATÜR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E90CF-2ED4-4449-9C06-1CA27EAB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AFC"/>
                </a:solidFill>
              </a:defRPr>
            </a:pPr>
            <a:r>
              <a:rPr sz="2700" b="1">
                <a:solidFill>
                  <a:srgbClr val="F5FAFC"/>
                </a:solidFill>
              </a:rPr>
              <a:t>Literatür üç fikri destekliyor; bizim katkımız bunları aynı merchant akışında birleştirmek.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84A05-ED2E-4B13-972A-1860FE3B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EC8"/>
                </a:solidFill>
              </a:defRPr>
            </a:pPr>
            <a:r>
              <a:rPr sz="1350" b="0">
                <a:solidFill>
                  <a:srgbClr val="A9BEC8"/>
                </a:solidFill>
              </a:rPr>
              <a:t>Merchant monitoring + zaman serisi + müşteri geri bildirimi.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53E29-B347-4236-8CED-166127E7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3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20BE7-69C0-4379-946E-E86C8E08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38375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51F"/>
                </a:solidFill>
              </a:defRPr>
            </a:pPr>
            <a:r>
              <a:rPr sz="1200" b="1">
                <a:solidFill>
                  <a:srgbClr val="07151F"/>
                </a:solidFill>
              </a:rPr>
              <a:t>Literatür hattı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B1E56-4A1F-4761-A3C2-6F052622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38375"/>
            <a:ext cx="3867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51F"/>
                </a:solidFill>
              </a:defRPr>
            </a:pPr>
            <a:r>
              <a:rPr sz="1200" b="1">
                <a:solidFill>
                  <a:srgbClr val="07151F"/>
                </a:solidFill>
              </a:rPr>
              <a:t>Temel bulgu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8247C-F42E-4372-8F49-A5424D9B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238375"/>
            <a:ext cx="3152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51F"/>
                </a:solidFill>
              </a:defRPr>
            </a:pPr>
            <a:r>
              <a:rPr sz="1200" b="1">
                <a:solidFill>
                  <a:srgbClr val="07151F"/>
                </a:solidFill>
              </a:rPr>
              <a:t>Projeye etkisi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96B92-EDE9-4B91-8865-3E70168A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6222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5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70DB3-8247-425B-9DFF-F54346B2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20097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AFC"/>
                </a:solidFill>
              </a:defRPr>
            </a:pPr>
            <a:r>
              <a:rPr sz="1200" b="0">
                <a:solidFill>
                  <a:srgbClr val="F5FAFC"/>
                </a:solidFill>
              </a:rPr>
              <a:t>Merchant monitoring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570EF-B7C6-453B-99A9-FE14EBAC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57475"/>
            <a:ext cx="3867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AFC"/>
                </a:solidFill>
              </a:defRPr>
            </a:pPr>
            <a:r>
              <a:rPr sz="1200" b="0">
                <a:solidFill>
                  <a:srgbClr val="F5FAFC"/>
                </a:solidFill>
              </a:rPr>
              <a:t>İşyeri tekil işlemden bağımsız izlenir.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DA903-3A4E-4CD6-9ADA-0A44E3D6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657475"/>
            <a:ext cx="31527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AFC"/>
                </a:solidFill>
              </a:defRPr>
            </a:pPr>
            <a:r>
              <a:rPr sz="1200" b="0">
                <a:solidFill>
                  <a:srgbClr val="F5FAFC"/>
                </a:solidFill>
              </a:rPr>
              <a:t>Pazar ihtiyacını doğrular.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376F22-5062-4EA7-A6EE-33CD819D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042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5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24C347-C673-4FA9-833B-6A16C6BB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95675"/>
            <a:ext cx="20097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AFC"/>
                </a:solidFill>
              </a:defRPr>
            </a:pPr>
            <a:r>
              <a:rPr sz="1200" b="0">
                <a:solidFill>
                  <a:srgbClr val="F5FAFC"/>
                </a:solidFill>
              </a:rPr>
              <a:t>Zamansal risk modelleme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598E67-E5B8-48A3-981B-31178038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95675"/>
            <a:ext cx="3867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AFC"/>
                </a:solidFill>
              </a:defRPr>
            </a:pPr>
            <a:r>
              <a:rPr sz="1200" b="0">
                <a:solidFill>
                  <a:srgbClr val="F5FAFC"/>
                </a:solidFill>
              </a:rPr>
              <a:t>1/7/30 günlük geçmiş ve gecikmeli etiketler önemlidir.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3EFEF-5645-433C-A4B8-DEC4FEC0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495675"/>
            <a:ext cx="31527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AFC"/>
                </a:solidFill>
              </a:defRPr>
            </a:pPr>
            <a:r>
              <a:rPr sz="1200" b="0">
                <a:solidFill>
                  <a:srgbClr val="F5FAFC"/>
                </a:solidFill>
              </a:rPr>
              <a:t>Merchant × day tasarımını destekler.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01361-D6CE-4065-963C-6EBB5D0A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EE5D6-5B42-424A-B253-2AF3D646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33875"/>
            <a:ext cx="20097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AFC"/>
                </a:solidFill>
              </a:defRPr>
            </a:pPr>
            <a:r>
              <a:rPr sz="1200" b="0">
                <a:solidFill>
                  <a:srgbClr val="F5FAFC"/>
                </a:solidFill>
              </a:rPr>
              <a:t>Müşteri geri bildirimi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2DD5CD-4477-49F4-A14F-6AF66CD6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33875"/>
            <a:ext cx="3867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AFC"/>
                </a:solidFill>
              </a:defRPr>
            </a:pPr>
            <a:r>
              <a:rPr sz="1200" b="0">
                <a:solidFill>
                  <a:srgbClr val="F5FAFC"/>
                </a:solidFill>
              </a:rPr>
              <a:t>Yorumların seviyesi değil, bozulma hızı erken sinyal olabilir.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7DF7CB-1C73-4F75-804C-3A35E2F6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333875"/>
            <a:ext cx="31527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AFC"/>
                </a:solidFill>
              </a:defRPr>
            </a:pPr>
            <a:r>
              <a:rPr sz="1200" b="0">
                <a:solidFill>
                  <a:srgbClr val="F5FAFC"/>
                </a:solidFill>
              </a:rPr>
              <a:t>Complaint velocity özelliğini destekler.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990D6A-C91A-43C6-8085-9C4DF150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816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3E6FF"/>
                </a:solidFill>
              </a:defRPr>
            </a:pPr>
            <a:r>
              <a:rPr sz="1575" b="1">
                <a:solidFill>
                  <a:srgbClr val="63E6FF"/>
                </a:solidFill>
              </a:rPr>
              <a:t>Boşluk: Şikâyet sinyalinin, banka içi exposure ve hakediş aciliyetiyle birlikte test edilmesi.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344A6E-9108-4AB7-9479-201D40FA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BEC8"/>
                </a:solidFill>
              </a:defRPr>
            </a:pPr>
            <a:r>
              <a:rPr sz="900" b="1">
                <a:solidFill>
                  <a:srgbClr val="A9BEC8"/>
                </a:solidFill>
              </a:rPr>
              <a:t>CHARGESHIELD  /  SANAL POS ERKEN RİSK UYARISI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652BCB-1AFA-4159-8849-EA0A4CB6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EC8"/>
                </a:solidFill>
              </a:defRPr>
            </a:pPr>
            <a:r>
              <a:rPr sz="900" b="1">
                <a:solidFill>
                  <a:srgbClr val="A9BEC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966876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C805A-6992-4CC9-9B6A-3929A9F4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D3C2"/>
                </a:solidFill>
              </a:defRPr>
            </a:pPr>
            <a:r>
              <a:rPr sz="1350" b="1">
                <a:solidFill>
                  <a:srgbClr val="29D3C2"/>
                </a:solidFill>
              </a:rPr>
              <a:t>05 / VERI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AC809-BF6C-4684-8727-C778B4DF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AFC"/>
                </a:solidFill>
              </a:defRPr>
            </a:pPr>
            <a:r>
              <a:rPr sz="2700" b="1">
                <a:solidFill>
                  <a:srgbClr val="F5FAFC"/>
                </a:solidFill>
              </a:rPr>
              <a:t>İki ana veri akışı, tek bir merchant görünümünde birleşir.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20988-B63E-4752-BE0D-988B3839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EC8"/>
                </a:solidFill>
              </a:defRPr>
            </a:pPr>
            <a:r>
              <a:rPr sz="1350" b="0">
                <a:solidFill>
                  <a:srgbClr val="A9BEC8"/>
                </a:solidFill>
              </a:rPr>
              <a:t>Banka verisi ana risk katmanı; dış müşteri sesi yardımcı erken sinyaldir.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3D188-F15E-410C-B386-C414477F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E2633"/>
          </a:solidFill>
          <a:ln xmlns:a="http://schemas.openxmlformats.org/drawingml/2006/main" w="9525">
            <a:solidFill>
              <a:srgbClr val="24455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A1BA2-8E58-4A27-8197-593DC1BE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24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D3C2"/>
                </a:solidFill>
              </a:defRPr>
            </a:pPr>
            <a:r>
              <a:rPr sz="1350" b="1">
                <a:solidFill>
                  <a:srgbClr val="29D3C2"/>
                </a:solidFill>
              </a:rPr>
              <a:t>BANKA / PSP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29018-D529-4A63-8DDB-2FC3EE6B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AFC"/>
                </a:solidFill>
              </a:defRPr>
            </a:pPr>
            <a:r>
              <a:rPr sz="1575" b="0">
                <a:solidFill>
                  <a:srgbClr val="F5FAFC"/>
                </a:solidFill>
              </a:rPr>
              <a:t>merchant_id</a:t>
            </a:r>
          </a:p>
          <a:p xmlns:a="http://schemas.openxmlformats.org/drawingml/2006/main">
            <a:pPr algn="l">
              <a:defRPr sz="1575" b="0">
                <a:solidFill>
                  <a:srgbClr val="F5FAFC"/>
                </a:solidFill>
              </a:defRPr>
            </a:pPr>
            <a:r>
              <a:rPr sz="1575" b="0">
                <a:solidFill>
                  <a:srgbClr val="F5FAFC"/>
                </a:solidFill>
              </a:rPr>
              <a:t>transaction • refund</a:t>
            </a:r>
          </a:p>
          <a:p xmlns:a="http://schemas.openxmlformats.org/drawingml/2006/main">
            <a:pPr algn="l">
              <a:defRPr sz="1575" b="0">
                <a:solidFill>
                  <a:srgbClr val="F5FAFC"/>
                </a:solidFill>
              </a:defRPr>
            </a:pPr>
            <a:r>
              <a:rPr sz="1575" b="0">
                <a:solidFill>
                  <a:srgbClr val="F5FAFC"/>
                </a:solidFill>
              </a:rPr>
              <a:t>dispute • settlement</a:t>
            </a:r>
          </a:p>
          <a:p xmlns:a="http://schemas.openxmlformats.org/drawingml/2006/main">
            <a:pPr algn="l">
              <a:defRPr sz="1575" b="0">
                <a:solidFill>
                  <a:srgbClr val="F5FAFC"/>
                </a:solidFill>
              </a:defRPr>
            </a:pPr>
            <a:r>
              <a:rPr sz="1575" b="0">
                <a:solidFill>
                  <a:srgbClr val="F5FAFC"/>
                </a:solidFill>
              </a:rPr>
              <a:t>reserve • payout</a:t>
            </a:r>
          </a:p>
          <a:p xmlns:a="http://schemas.openxmlformats.org/drawingml/2006/main">
            <a:pPr algn="l">
              <a:defRPr sz="1575" b="0">
                <a:solidFill>
                  <a:srgbClr val="F5FAFC"/>
                </a:solidFill>
              </a:defRPr>
            </a:pPr>
            <a:r>
              <a:rPr sz="1575" b="0">
                <a:solidFill>
                  <a:srgbClr val="F5FAFC"/>
                </a:solidFill>
              </a:rPr>
              <a:t>bloke bitiş tarihi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9B1F5-A568-496D-A669-69E82C3C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E2633"/>
          </a:solidFill>
          <a:ln xmlns:a="http://schemas.openxmlformats.org/drawingml/2006/main" w="9525">
            <a:solidFill>
              <a:srgbClr val="2445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71304-A7CE-4702-B244-0B2C2E50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24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D3C2"/>
                </a:solidFill>
              </a:defRPr>
            </a:pPr>
            <a:r>
              <a:rPr sz="1350" b="1">
                <a:solidFill>
                  <a:srgbClr val="29D3C2"/>
                </a:solidFill>
              </a:rPr>
              <a:t>DIŞ KAYNAKLAR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2AA57-2F83-4B81-AD25-235ABB44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AFC"/>
                </a:solidFill>
              </a:defRPr>
            </a:pPr>
            <a:r>
              <a:rPr sz="1575" b="0">
                <a:solidFill>
                  <a:srgbClr val="F5FAFC"/>
                </a:solidFill>
              </a:rPr>
              <a:t>şikâyet metni</a:t>
            </a:r>
          </a:p>
          <a:p xmlns:a="http://schemas.openxmlformats.org/drawingml/2006/main">
            <a:pPr algn="l">
              <a:defRPr sz="1575" b="0">
                <a:solidFill>
                  <a:srgbClr val="F5FAFC"/>
                </a:solidFill>
              </a:defRPr>
            </a:pPr>
            <a:r>
              <a:rPr sz="1575" b="0">
                <a:solidFill>
                  <a:srgbClr val="F5FAFC"/>
                </a:solidFill>
              </a:rPr>
              <a:t>yorum / sosyal medya</a:t>
            </a:r>
          </a:p>
          <a:p xmlns:a="http://schemas.openxmlformats.org/drawingml/2006/main">
            <a:pPr algn="l">
              <a:defRPr sz="1575" b="0">
                <a:solidFill>
                  <a:srgbClr val="F5FAFC"/>
                </a:solidFill>
              </a:defRPr>
            </a:pPr>
            <a:r>
              <a:rPr sz="1575" b="0">
                <a:solidFill>
                  <a:srgbClr val="F5FAFC"/>
                </a:solidFill>
              </a:rPr>
              <a:t>OCR başvuruları</a:t>
            </a:r>
          </a:p>
          <a:p xmlns:a="http://schemas.openxmlformats.org/drawingml/2006/main">
            <a:pPr algn="l">
              <a:defRPr sz="1575" b="0">
                <a:solidFill>
                  <a:srgbClr val="F5FAFC"/>
                </a:solidFill>
              </a:defRPr>
            </a:pPr>
            <a:r>
              <a:rPr sz="1575" b="0">
                <a:solidFill>
                  <a:srgbClr val="F5FAFC"/>
                </a:solidFill>
              </a:rPr>
              <a:t>tarih • konu • kaynak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E98BD-AD30-479D-A4CE-38F941AB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290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E6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414B4-D402-48E0-948C-8925C85F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E6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16B36-40CA-4B72-871E-CB5B81C4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38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E6FF"/>
          </a:solidFill>
          <a:ln xmlns:a="http://schemas.openxmlformats.org/drawingml/2006/main" w="0">
            <a:solidFill>
              <a:srgbClr val="63E6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2732E-DD35-4F2B-A042-11061BFE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81425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51F"/>
                </a:solidFill>
              </a:defRPr>
            </a:pPr>
            <a:r>
              <a:rPr sz="1350" b="1">
                <a:solidFill>
                  <a:srgbClr val="07151F"/>
                </a:solidFill>
              </a:rPr>
              <a:t>MERCHANT</a:t>
            </a:r>
          </a:p>
          <a:p xmlns:a="http://schemas.openxmlformats.org/drawingml/2006/main">
            <a:pPr algn="ctr">
              <a:defRPr sz="1350" b="1">
                <a:solidFill>
                  <a:srgbClr val="07151F"/>
                </a:solidFill>
              </a:defRPr>
            </a:pPr>
            <a:r>
              <a:rPr sz="1350" b="1">
                <a:solidFill>
                  <a:srgbClr val="07151F"/>
                </a:solidFill>
              </a:rPr>
              <a:t>GÖRÜNÜMÜ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C44FA-3D80-4653-9D5E-D873C358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9BEC8"/>
                </a:solidFill>
              </a:defRPr>
            </a:pPr>
            <a:r>
              <a:rPr sz="1350" b="0">
                <a:solidFill>
                  <a:srgbClr val="A9BEC8"/>
                </a:solidFill>
              </a:rPr>
              <a:t>Hazır veri setleri model parçalarını test eder; gerçek banka bağlantısı PoC’de sentetik/anonim olabilir.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B8724-E094-4017-9A54-CC9FDA97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BEC8"/>
                </a:solidFill>
              </a:defRPr>
            </a:pPr>
            <a:r>
              <a:rPr sz="900" b="1">
                <a:solidFill>
                  <a:srgbClr val="A9BEC8"/>
                </a:solidFill>
              </a:rPr>
              <a:t>CHARGESHIELD  /  SANAL POS ERKEN RİSK UYARISI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E9FF41-1056-4F38-A0D4-13B85BF5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EC8"/>
                </a:solidFill>
              </a:defRPr>
            </a:pPr>
            <a:r>
              <a:rPr sz="900" b="1">
                <a:solidFill>
                  <a:srgbClr val="A9BEC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011486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4E5324-CB8F-49E7-9E67-185C02C6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D3C2"/>
                </a:solidFill>
              </a:defRPr>
            </a:pPr>
            <a:r>
              <a:rPr sz="1350" b="1">
                <a:solidFill>
                  <a:srgbClr val="29D3C2"/>
                </a:solidFill>
              </a:rPr>
              <a:t>06 / YAPAY ZEKÂ YAKLAŞIMI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59E90-3B99-4E82-B9C0-5DE2C8B0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AFC"/>
                </a:solidFill>
              </a:defRPr>
            </a:pPr>
            <a:r>
              <a:rPr sz="2700" b="1">
                <a:solidFill>
                  <a:srgbClr val="F5FAFC"/>
                </a:solidFill>
              </a:rPr>
              <a:t>LLM merkezde değil; karar katmanlarını besleyen modüler bir AI sistemi var.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EC4F3-64E1-4549-B94F-334B50ED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EC8"/>
                </a:solidFill>
              </a:defRPr>
            </a:pPr>
            <a:r>
              <a:rPr sz="1350" b="0">
                <a:solidFill>
                  <a:srgbClr val="A9BEC8"/>
                </a:solidFill>
              </a:rPr>
              <a:t>Bu seçim daha hızlı, daha açıklanabilir ve banka analistinin denetimine uygun.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682DF-34DB-4FFC-B771-B38B45A3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71750"/>
            <a:ext cx="233362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E2633"/>
          </a:solidFill>
          <a:ln xmlns:a="http://schemas.openxmlformats.org/drawingml/2006/main" w="9525">
            <a:solidFill>
              <a:srgbClr val="24455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DBB4D-A75F-40B5-93E3-59130DEF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813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9D3C2"/>
                </a:solidFill>
              </a:defRPr>
            </a:pPr>
            <a:r>
              <a:rPr sz="1275" b="1">
                <a:solidFill>
                  <a:srgbClr val="29D3C2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7164F-4BC0-457B-B098-C462D7C8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718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AFC"/>
                </a:solidFill>
              </a:defRPr>
            </a:pPr>
            <a:r>
              <a:rPr sz="1650" b="1">
                <a:solidFill>
                  <a:srgbClr val="F5FAFC"/>
                </a:solidFill>
              </a:rPr>
              <a:t>Tabular risk modeli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DE0E2-D5E7-442A-BD28-F571ADD6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EC8"/>
                </a:solidFill>
              </a:defRPr>
            </a:pPr>
            <a:r>
              <a:rPr sz="1275" b="0">
                <a:solidFill>
                  <a:srgbClr val="A9BEC8"/>
                </a:solidFill>
              </a:rPr>
              <a:t>CatBoost / LightGBM</a:t>
            </a:r>
          </a:p>
          <a:p xmlns:a="http://schemas.openxmlformats.org/drawingml/2006/main">
            <a:pPr algn="l">
              <a:defRPr sz="1275" b="0">
                <a:solidFill>
                  <a:srgbClr val="A9BEC8"/>
                </a:solidFill>
              </a:defRPr>
            </a:pPr>
            <a:r>
              <a:rPr sz="1275" b="0">
                <a:solidFill>
                  <a:srgbClr val="A9BEC8"/>
                </a:solidFill>
              </a:rPr>
              <a:t>merchant × 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3B05B-2829-42F4-9FB0-49E53678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7662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E6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54C02-6818-4B0D-ABC8-56F98B3E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233362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E2633"/>
          </a:solidFill>
          <a:ln xmlns:a="http://schemas.openxmlformats.org/drawingml/2006/main" w="9525">
            <a:solidFill>
              <a:srgbClr val="2445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CFFF1-6565-4CB6-920D-53D07917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813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9D3C2"/>
                </a:solidFill>
              </a:defRPr>
            </a:pPr>
            <a:r>
              <a:rPr sz="1275" b="1">
                <a:solidFill>
                  <a:srgbClr val="29D3C2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1F066A-6AF8-408E-8C98-23CC635C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718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AFC"/>
                </a:solidFill>
              </a:defRPr>
            </a:pPr>
            <a:r>
              <a:rPr sz="1650" b="1">
                <a:solidFill>
                  <a:srgbClr val="F5FAFC"/>
                </a:solidFill>
              </a:rPr>
              <a:t>Complaint NLP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C0AFA1-69D3-4260-8209-1602A7EC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385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EC8"/>
                </a:solidFill>
              </a:defRPr>
            </a:pPr>
            <a:r>
              <a:rPr sz="1275" b="0">
                <a:solidFill>
                  <a:srgbClr val="A9BEC8"/>
                </a:solidFill>
              </a:rPr>
              <a:t>Hizmet verilmedi</a:t>
            </a:r>
          </a:p>
          <a:p xmlns:a="http://schemas.openxmlformats.org/drawingml/2006/main">
            <a:pPr algn="l">
              <a:defRPr sz="1275" b="0">
                <a:solidFill>
                  <a:srgbClr val="A9BEC8"/>
                </a:solidFill>
              </a:defRPr>
            </a:pPr>
            <a:r>
              <a:rPr sz="1275" b="0">
                <a:solidFill>
                  <a:srgbClr val="A9BEC8"/>
                </a:solidFill>
              </a:rPr>
              <a:t>İade yok • Oyalama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B98E1-C1C4-42B8-BA77-33B95CF2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47662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E6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8F004-8963-4072-AE18-2DF832EE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571750"/>
            <a:ext cx="233362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E2633"/>
          </a:solidFill>
          <a:ln xmlns:a="http://schemas.openxmlformats.org/drawingml/2006/main" w="9525">
            <a:solidFill>
              <a:srgbClr val="2445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1537B-EB2F-4B71-80D1-BB1D2B0C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9D3C2"/>
                </a:solidFill>
              </a:defRPr>
            </a:pPr>
            <a:r>
              <a:rPr sz="1275" b="1">
                <a:solidFill>
                  <a:srgbClr val="29D3C2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77A3F-1533-4543-A55E-082C3A15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718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AFC"/>
                </a:solidFill>
              </a:defRPr>
            </a:pPr>
            <a:r>
              <a:rPr sz="1650" b="1">
                <a:solidFill>
                  <a:srgbClr val="F5FAFC"/>
                </a:solidFill>
              </a:rPr>
              <a:t>Anomali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3A385A-2D4A-448F-87D7-6490799F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385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EC8"/>
                </a:solidFill>
              </a:defRPr>
            </a:pPr>
            <a:r>
              <a:rPr sz="1275" b="0">
                <a:solidFill>
                  <a:srgbClr val="A9BEC8"/>
                </a:solidFill>
              </a:rPr>
              <a:t>Merchant’ın kendi</a:t>
            </a:r>
          </a:p>
          <a:p xmlns:a="http://schemas.openxmlformats.org/drawingml/2006/main">
            <a:pPr algn="l">
              <a:defRPr sz="1275" b="0">
                <a:solidFill>
                  <a:srgbClr val="A9BEC8"/>
                </a:solidFill>
              </a:defRPr>
            </a:pPr>
            <a:r>
              <a:rPr sz="1275" b="0">
                <a:solidFill>
                  <a:srgbClr val="A9BEC8"/>
                </a:solidFill>
              </a:rPr>
              <a:t>baseline’ından sapma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904D11-A772-4799-91FE-C7E22680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E6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E7B01E-1B14-4EC4-9EE2-3DCF9BA1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33362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29D3C2"/>
          </a:solidFill>
          <a:ln xmlns:a="http://schemas.openxmlformats.org/drawingml/2006/main" w="9525">
            <a:solidFill>
              <a:srgbClr val="2445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6279FA-D02C-4878-AF95-0C42CEE6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813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51F"/>
                </a:solidFill>
              </a:defRPr>
            </a:pPr>
            <a:r>
              <a:rPr sz="1275" b="1">
                <a:solidFill>
                  <a:srgbClr val="07151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891C8D-D66C-479C-B5D9-C43EBF6C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718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51F"/>
                </a:solidFill>
              </a:defRPr>
            </a:pPr>
            <a:r>
              <a:rPr sz="1650" b="1">
                <a:solidFill>
                  <a:srgbClr val="07151F"/>
                </a:solidFill>
              </a:rPr>
              <a:t>Risk fusion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9E111A-B0D7-4F4E-B785-7276C5BB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385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51F"/>
                </a:solidFill>
              </a:defRPr>
            </a:pPr>
            <a:r>
              <a:rPr sz="1275" b="0">
                <a:solidFill>
                  <a:srgbClr val="07151F"/>
                </a:solidFill>
              </a:rPr>
              <a:t>Skor + kanıt +</a:t>
            </a:r>
          </a:p>
          <a:p xmlns:a="http://schemas.openxmlformats.org/drawingml/2006/main">
            <a:pPr algn="l">
              <a:defRPr sz="1275" b="0">
                <a:solidFill>
                  <a:srgbClr val="07151F"/>
                </a:solidFill>
              </a:defRPr>
            </a:pPr>
            <a:r>
              <a:rPr sz="1275" b="0">
                <a:solidFill>
                  <a:srgbClr val="07151F"/>
                </a:solidFill>
              </a:rPr>
              <a:t>inceleme aksiyonu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10BAE5-8D7D-4193-B107-7027C178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BEC8"/>
                </a:solidFill>
              </a:defRPr>
            </a:pPr>
            <a:r>
              <a:rPr sz="900" b="1">
                <a:solidFill>
                  <a:srgbClr val="A9BEC8"/>
                </a:solidFill>
              </a:rPr>
              <a:t>CHARGESHIELD  /  SANAL POS ERKEN RİSK UYARISI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D23C4E-8115-4E1A-8E3E-7BE67EBA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EC8"/>
                </a:solidFill>
              </a:defRPr>
            </a:pPr>
            <a:r>
              <a:rPr sz="900" b="1">
                <a:solidFill>
                  <a:srgbClr val="A9BEC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059148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5EB568-F819-4EE4-BB43-1CFB7C93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D3C2"/>
                </a:solidFill>
              </a:defRPr>
            </a:pPr>
            <a:r>
              <a:rPr sz="1350" b="1">
                <a:solidFill>
                  <a:srgbClr val="29D3C2"/>
                </a:solidFill>
              </a:rPr>
              <a:t>07 / RISK SKORU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84500-E53A-487A-9302-88D605D7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AFC"/>
                </a:solidFill>
              </a:defRPr>
            </a:pPr>
            <a:r>
              <a:rPr sz="2700" b="1">
                <a:solidFill>
                  <a:srgbClr val="F5FAFC"/>
                </a:solidFill>
              </a:rPr>
              <a:t>Aynı risk, bloke bitişine yaklaştıkça daha acil hale gelir.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23EA3-2C83-4208-9341-6739E402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EC8"/>
                </a:solidFill>
              </a:defRPr>
            </a:pPr>
            <a:r>
              <a:rPr sz="1350" b="0">
                <a:solidFill>
                  <a:srgbClr val="A9BEC8"/>
                </a:solidFill>
              </a:rPr>
              <a:t>Kalan gün sayısı riski tek başına yaratmaz; alarm önceliğini artırır.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C378E-FF0F-454F-BC59-15D4C901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45720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E2633"/>
          </a:solidFill>
          <a:ln xmlns:a="http://schemas.openxmlformats.org/drawingml/2006/main" w="9525">
            <a:solidFill>
              <a:srgbClr val="24455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33EF5-7D43-4C43-A800-0FF98298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81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D3C2"/>
                </a:solidFill>
              </a:defRPr>
            </a:pPr>
            <a:r>
              <a:rPr sz="1350" b="1">
                <a:solidFill>
                  <a:srgbClr val="29D3C2"/>
                </a:solidFill>
              </a:rPr>
              <a:t>ÖRNEK MERCHANT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E8245-22E2-472D-B470-AA67538A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75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AFC"/>
                </a:solidFill>
              </a:defRPr>
            </a:pPr>
            <a:r>
              <a:rPr sz="2400" b="1">
                <a:solidFill>
                  <a:srgbClr val="F5FAFC"/>
                </a:solidFill>
              </a:rPr>
              <a:t>TatilPlus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EBC25-E65F-44A3-A98C-14469704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EC8"/>
                </a:solidFill>
              </a:defRPr>
            </a:pPr>
            <a:r>
              <a:rPr sz="1500" b="0">
                <a:solidFill>
                  <a:srgbClr val="A9BEC8"/>
                </a:solidFill>
              </a:rPr>
              <a:t>Son 48 saatte şikâyet: 6×</a:t>
            </a:r>
          </a:p>
          <a:p xmlns:a="http://schemas.openxmlformats.org/drawingml/2006/main">
            <a:pPr algn="l">
              <a:defRPr sz="1500" b="0">
                <a:solidFill>
                  <a:srgbClr val="A9BEC8"/>
                </a:solidFill>
              </a:defRPr>
            </a:pPr>
            <a:r>
              <a:rPr sz="1500" b="0">
                <a:solidFill>
                  <a:srgbClr val="A9BEC8"/>
                </a:solidFill>
              </a:rPr>
              <a:t>Hizmet verilmedi: %61</a:t>
            </a:r>
          </a:p>
          <a:p xmlns:a="http://schemas.openxmlformats.org/drawingml/2006/main">
            <a:pPr algn="l">
              <a:defRPr sz="1500" b="0">
                <a:solidFill>
                  <a:srgbClr val="A9BEC8"/>
                </a:solidFill>
              </a:defRPr>
            </a:pPr>
            <a:r>
              <a:rPr sz="1500" b="0">
                <a:solidFill>
                  <a:srgbClr val="A9BEC8"/>
                </a:solidFill>
              </a:rPr>
              <a:t>İade oranı: 3×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7D3E5-AAD7-4A48-9B8F-B047A223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000500" cy="2857500"/>
          </a:xfrm>
          <a:prstGeom xmlns:a="http://schemas.openxmlformats.org/drawingml/2006/main" prst="roundRect">
            <a:avLst>
              <a:gd name="adj" fmla="val 533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445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E5FAA-5634-423D-8A68-EAAB647A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D3C2"/>
                </a:solidFill>
              </a:defRPr>
            </a:pPr>
            <a:r>
              <a:rPr sz="1350" b="1">
                <a:solidFill>
                  <a:srgbClr val="29D3C2"/>
                </a:solidFill>
              </a:rPr>
              <a:t>BLOKE BİTİŞİ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66F5B-D7EE-4208-9B2B-D87327BD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B86B"/>
                </a:solidFill>
              </a:defRPr>
            </a:pPr>
            <a:r>
              <a:rPr sz="3450" b="1">
                <a:solidFill>
                  <a:srgbClr val="FFB86B"/>
                </a:solidFill>
              </a:rPr>
              <a:t>3 gün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105B9-8722-4F46-8136-4D966C8F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7A"/>
                </a:solidFill>
              </a:defRPr>
            </a:pPr>
            <a:r>
              <a:rPr sz="1575" b="1">
                <a:solidFill>
                  <a:srgbClr val="FF6B7A"/>
                </a:solidFill>
              </a:rPr>
              <a:t>ACİLİYET: KRİTİK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52771-E45F-4A82-9D0A-8351DE0D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957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AFC"/>
                </a:solidFill>
              </a:defRPr>
            </a:pPr>
            <a:r>
              <a:rPr sz="1425" b="0">
                <a:solidFill>
                  <a:srgbClr val="F5FAFC"/>
                </a:solidFill>
              </a:rPr>
              <a:t>Öneri: Hakediş aktarımı</a:t>
            </a:r>
          </a:p>
          <a:p xmlns:a="http://schemas.openxmlformats.org/drawingml/2006/main">
            <a:pPr algn="l">
              <a:defRPr sz="1425" b="0">
                <a:solidFill>
                  <a:srgbClr val="F5FAFC"/>
                </a:solidFill>
              </a:defRPr>
            </a:pPr>
            <a:r>
              <a:rPr sz="1425" b="0">
                <a:solidFill>
                  <a:srgbClr val="F5FAFC"/>
                </a:solidFill>
              </a:rPr>
              <a:t>öncesi merchant incelemesi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311E0-9E9B-4EB3-8393-EAEC0733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BEC8"/>
                </a:solidFill>
              </a:defRPr>
            </a:pPr>
            <a:r>
              <a:rPr sz="900" b="1">
                <a:solidFill>
                  <a:srgbClr val="A9BEC8"/>
                </a:solidFill>
              </a:rPr>
              <a:t>CHARGESHIELD  /  SANAL POS ERKEN RİSK UYARISI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28722F-C59B-4DE7-B8C9-BA52D9D4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EC8"/>
                </a:solidFill>
              </a:defRPr>
            </a:pPr>
            <a:r>
              <a:rPr sz="900" b="1">
                <a:solidFill>
                  <a:srgbClr val="A9BEC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865357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103F12-8556-4C4E-B6D0-DE75EB49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D3C2"/>
                </a:solidFill>
              </a:defRPr>
            </a:pPr>
            <a:r>
              <a:rPr sz="1350" b="1">
                <a:solidFill>
                  <a:srgbClr val="29D3C2"/>
                </a:solidFill>
              </a:rPr>
              <a:t>08 / FARKLILAŞMA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B0001-A118-4413-84C9-19DDD852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AFC"/>
                </a:solidFill>
              </a:defRPr>
            </a:pPr>
            <a:r>
              <a:rPr sz="2700" b="1">
                <a:solidFill>
                  <a:srgbClr val="F5FAFC"/>
                </a:solidFill>
              </a:rPr>
              <a:t>Mevcut çözümler çoğunlukla işlemi izler; ChargeShield merchant’ın bozulmasını izler.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78EBD-3052-4512-9C17-1186BF7D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EC8"/>
                </a:solidFill>
              </a:defRPr>
            </a:pPr>
            <a:r>
              <a:rPr sz="1350" b="0">
                <a:solidFill>
                  <a:srgbClr val="A9BEC8"/>
                </a:solidFill>
              </a:rPr>
              <a:t>Amaç yeni bir “fraud detector” iddiası değil, erken uyarı katmanını farklılaştırmak.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159B4-4341-4277-8F98-B7B1F41F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009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3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FC61A-72BD-4774-B564-B9FAB005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51F"/>
                </a:solidFill>
              </a:defRPr>
            </a:pPr>
            <a:r>
              <a:rPr sz="1200" b="1">
                <a:solidFill>
                  <a:srgbClr val="07151F"/>
                </a:solidFill>
              </a:rPr>
              <a:t>Çözüm alanı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976C8-611E-45B2-8AD1-6BD89BEA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51F"/>
                </a:solidFill>
              </a:defRPr>
            </a:pPr>
            <a:r>
              <a:rPr sz="1200" b="1">
                <a:solidFill>
                  <a:srgbClr val="07151F"/>
                </a:solidFill>
              </a:rPr>
              <a:t>Ana soru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68D58-06A8-4286-9B51-95E810DB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90750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51F"/>
                </a:solidFill>
              </a:defRPr>
            </a:pPr>
            <a:r>
              <a:rPr sz="1200" b="1">
                <a:solidFill>
                  <a:srgbClr val="07151F"/>
                </a:solidFill>
              </a:rPr>
              <a:t>Bizim farkımız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31028-13F5-442A-B494-A57BA4C7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5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1A2E2-9369-4F44-932D-902EE9BE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38425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EC8"/>
                </a:solidFill>
              </a:defRPr>
            </a:pPr>
            <a:r>
              <a:rPr sz="1200" b="1">
                <a:solidFill>
                  <a:srgbClr val="A9BEC8"/>
                </a:solidFill>
              </a:rPr>
              <a:t>Klasik fraud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A9DCA-7510-4085-BE27-1E1B0CAB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38425"/>
            <a:ext cx="3771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EC8"/>
                </a:solidFill>
              </a:defRPr>
            </a:pPr>
            <a:r>
              <a:rPr sz="1200" b="0">
                <a:solidFill>
                  <a:srgbClr val="A9BEC8"/>
                </a:solidFill>
              </a:rPr>
              <a:t>Bu işlem şüpheli mi?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6C7CD-465B-4CA6-8ADC-95638F39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38425"/>
            <a:ext cx="3486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EC8"/>
                </a:solidFill>
              </a:defRPr>
            </a:pPr>
            <a:r>
              <a:rPr sz="1200" b="0">
                <a:solidFill>
                  <a:srgbClr val="A9BEC8"/>
                </a:solidFill>
              </a:rPr>
              <a:t>Kart / cihaz / işlem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99B89-4E81-4505-ACAD-C248AF32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0517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5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6C5C7-C6F0-42FE-B869-889C03FB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19475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EC8"/>
                </a:solidFill>
              </a:defRPr>
            </a:pPr>
            <a:r>
              <a:rPr sz="1200" b="1">
                <a:solidFill>
                  <a:srgbClr val="A9BEC8"/>
                </a:solidFill>
              </a:rPr>
              <a:t>Chargeback yönetimi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57EB22-1375-4FD5-9735-12D37B5F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19475"/>
            <a:ext cx="3771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EC8"/>
                </a:solidFill>
              </a:defRPr>
            </a:pPr>
            <a:r>
              <a:rPr sz="1200" b="0">
                <a:solidFill>
                  <a:srgbClr val="A9BEC8"/>
                </a:solidFill>
              </a:rPr>
              <a:t>İtirazı nasıl önlerim?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F07BB-5890-4481-9318-2106891A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19475"/>
            <a:ext cx="3486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EC8"/>
                </a:solidFill>
              </a:defRPr>
            </a:pPr>
            <a:r>
              <a:rPr sz="1200" b="0">
                <a:solidFill>
                  <a:srgbClr val="A9BEC8"/>
                </a:solidFill>
              </a:rPr>
              <a:t>Dispute / issuer sinyali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A9A786-368F-4ADA-8F49-21BA0B7F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862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5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A43F6A-1C44-4E33-96AA-C345A205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00525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EC8"/>
                </a:solidFill>
              </a:defRPr>
            </a:pPr>
            <a:r>
              <a:rPr sz="1200" b="1">
                <a:solidFill>
                  <a:srgbClr val="A9BEC8"/>
                </a:solidFill>
              </a:rPr>
              <a:t>Merchant onboarding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E4512E-8F7E-4C55-87B3-949E810D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00525"/>
            <a:ext cx="3771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EC8"/>
                </a:solidFill>
              </a:defRPr>
            </a:pPr>
            <a:r>
              <a:rPr sz="1200" b="0">
                <a:solidFill>
                  <a:srgbClr val="A9BEC8"/>
                </a:solidFill>
              </a:rPr>
              <a:t>Bu firma alınabilir mi?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57A335-4CF4-4E17-A2FD-341D157C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00525"/>
            <a:ext cx="3486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EC8"/>
                </a:solidFill>
              </a:defRPr>
            </a:pPr>
            <a:r>
              <a:rPr sz="1200" b="0">
                <a:solidFill>
                  <a:srgbClr val="A9BEC8"/>
                </a:solidFill>
              </a:rPr>
              <a:t>KYB / AML / belge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74405A-57B9-4388-AC98-3E291E1F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67275"/>
            <a:ext cx="1009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633"/>
          </a:solidFill>
          <a:ln xmlns:a="http://schemas.openxmlformats.org/drawingml/2006/main" w="9525">
            <a:solidFill>
              <a:srgbClr val="63E6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3D36DC-D650-48D2-872D-89E90F35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81575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C"/>
                </a:solidFill>
              </a:defRPr>
            </a:pPr>
            <a:r>
              <a:rPr sz="1200" b="1">
                <a:solidFill>
                  <a:srgbClr val="F5FAFC"/>
                </a:solidFill>
              </a:rPr>
              <a:t>ChargeShield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DC1E5B-B201-419B-9D0B-0FDCAF2F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81575"/>
            <a:ext cx="3771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C"/>
                </a:solidFill>
              </a:defRPr>
            </a:pPr>
            <a:r>
              <a:rPr sz="1200" b="1">
                <a:solidFill>
                  <a:srgbClr val="F5FAFC"/>
                </a:solidFill>
              </a:rPr>
              <a:t>Bu firma hizmet sunmayı bırakıp müşteriyi oyalıyor mu?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6EBE60-9E30-4156-A174-88E5B04B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81575"/>
            <a:ext cx="3486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AFC"/>
                </a:solidFill>
              </a:defRPr>
            </a:pPr>
            <a:r>
              <a:rPr sz="1200" b="1">
                <a:solidFill>
                  <a:srgbClr val="F5FAFC"/>
                </a:solidFill>
              </a:rPr>
              <a:t>Banka verisi + müşteri sesi + bloke aciliyeti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BE4F73-2D62-4330-90CB-9D39AA84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BEC8"/>
                </a:solidFill>
              </a:defRPr>
            </a:pPr>
            <a:r>
              <a:rPr sz="900" b="1">
                <a:solidFill>
                  <a:srgbClr val="A9BEC8"/>
                </a:solidFill>
              </a:rPr>
              <a:t>CHARGESHIELD  /  SANAL POS ERKEN RİSK UYARISI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D4BD28-4163-47A9-BE3D-07242B29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EC8"/>
                </a:solidFill>
              </a:defRPr>
            </a:pPr>
            <a:r>
              <a:rPr sz="900" b="1">
                <a:solidFill>
                  <a:srgbClr val="A9BEC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806006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D00997-427A-45CC-9561-96F13BD1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D3C2"/>
                </a:solidFill>
              </a:defRPr>
            </a:pPr>
            <a:r>
              <a:rPr sz="1350" b="1">
                <a:solidFill>
                  <a:srgbClr val="29D3C2"/>
                </a:solidFill>
              </a:rPr>
              <a:t>09 / POC PLANI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F1B76-1252-41A3-BA17-0EBA35E7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AFC"/>
                </a:solidFill>
              </a:defRPr>
            </a:pPr>
            <a:r>
              <a:rPr sz="2700" b="1">
                <a:solidFill>
                  <a:srgbClr val="F5FAFC"/>
                </a:solidFill>
              </a:rPr>
              <a:t>İlk prototipte hedef, bankanın gerçek kararını otomatikleştirmek değil; erken sinyali ölçmek.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3B8D2-C2C4-4863-B13C-C6A51C0E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EC8"/>
                </a:solidFill>
              </a:defRPr>
            </a:pPr>
            <a:r>
              <a:rPr sz="1350" b="0">
                <a:solidFill>
                  <a:srgbClr val="A9BEC8"/>
                </a:solidFill>
              </a:rPr>
              <a:t>Küçük, güvenli ve ölçülebilir bir akışla başlayacağız.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11417-F1D0-4F29-9BB1-5E4DF7AE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D3C2"/>
          </a:solidFill>
          <a:ln xmlns:a="http://schemas.openxmlformats.org/drawingml/2006/main" w="0">
            <a:solidFill>
              <a:srgbClr val="29D3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2D4E3-3147-40A0-AE3E-4028C885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51F"/>
                </a:solidFill>
              </a:defRPr>
            </a:pPr>
            <a:r>
              <a:rPr sz="16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1AEBA-649B-41AF-B546-F0C25DFB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AFC"/>
                </a:solidFill>
              </a:defRPr>
            </a:pPr>
            <a:r>
              <a:rPr sz="1500" b="1">
                <a:solidFill>
                  <a:srgbClr val="F5FAFC"/>
                </a:solidFill>
              </a:rPr>
              <a:t>Merchant × day şeması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9C379-85B4-44ED-973E-2AB5882B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671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EC8"/>
                </a:solidFill>
              </a:defRPr>
            </a:pPr>
            <a:r>
              <a:rPr sz="1200" b="0">
                <a:solidFill>
                  <a:srgbClr val="A9BEC8"/>
                </a:solidFill>
              </a:rPr>
              <a:t>Sentetik/anonim banka verisi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54865-BF56-4CE6-9EE7-CEF94C7E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45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B9E7A-1CB8-46DC-955A-ED325A39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D3C2"/>
          </a:solidFill>
          <a:ln xmlns:a="http://schemas.openxmlformats.org/drawingml/2006/main" w="0">
            <a:solidFill>
              <a:srgbClr val="29D3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638D2-BD82-4DB3-9928-4D9C147E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1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51F"/>
                </a:solidFill>
              </a:defRPr>
            </a:pPr>
            <a:r>
              <a:rPr sz="16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BE0AC-8E13-4700-BFF9-1AA4B1B9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90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AFC"/>
                </a:solidFill>
              </a:defRPr>
            </a:pPr>
            <a:r>
              <a:rPr sz="1500" b="1">
                <a:solidFill>
                  <a:srgbClr val="F5FAFC"/>
                </a:solidFill>
              </a:rPr>
              <a:t>Complaint NLP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EEE71-693A-4796-AB4D-627F6B7A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6671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EC8"/>
                </a:solidFill>
              </a:defRPr>
            </a:pPr>
            <a:r>
              <a:rPr sz="1200" b="0">
                <a:solidFill>
                  <a:srgbClr val="A9BEC8"/>
                </a:solidFill>
              </a:rPr>
              <a:t>Etiketli Türkçe örnekler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5DFBC-DC7F-442C-99EF-F2837DDB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45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A5B6E-2C73-4B01-B209-9D8EC803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D3C2"/>
          </a:solidFill>
          <a:ln xmlns:a="http://schemas.openxmlformats.org/drawingml/2006/main" w="0">
            <a:solidFill>
              <a:srgbClr val="29D3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EE0A6-7527-4104-BC40-36C9E3C2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1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51F"/>
                </a:solidFill>
              </a:defRPr>
            </a:pPr>
            <a:r>
              <a:rPr sz="16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CC84E4-E18E-4BE0-B5CF-991A50F3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AFC"/>
                </a:solidFill>
              </a:defRPr>
            </a:pPr>
            <a:r>
              <a:rPr sz="1500" b="1">
                <a:solidFill>
                  <a:srgbClr val="F5FAFC"/>
                </a:solidFill>
              </a:rPr>
              <a:t>Risk fusion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7BF09-F81A-41CD-80D1-AF19995B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671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EC8"/>
                </a:solidFill>
              </a:defRPr>
            </a:pPr>
            <a:r>
              <a:rPr sz="1200" b="0">
                <a:solidFill>
                  <a:srgbClr val="A9BEC8"/>
                </a:solidFill>
              </a:rPr>
              <a:t>Banka + şikâyet + aciliyet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95C469-4C70-4BD9-99C7-BB804964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45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030D44-C382-41CA-A427-B0EC866C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E6FF"/>
          </a:solidFill>
          <a:ln xmlns:a="http://schemas.openxmlformats.org/drawingml/2006/main" w="0">
            <a:solidFill>
              <a:srgbClr val="63E6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E465A7-30B6-4B52-AAD0-C8A59818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14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51F"/>
                </a:solidFill>
              </a:defRPr>
            </a:pPr>
            <a:r>
              <a:rPr sz="16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FA99ED-4823-4216-84A0-EBC0A11E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90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AFC"/>
                </a:solidFill>
              </a:defRPr>
            </a:pPr>
            <a:r>
              <a:rPr sz="1500" b="1">
                <a:solidFill>
                  <a:srgbClr val="F5FAFC"/>
                </a:solidFill>
              </a:rPr>
              <a:t>Dashboard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0F4276-02BD-462D-8972-DB90566D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671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EC8"/>
                </a:solidFill>
              </a:defRPr>
            </a:pPr>
            <a:r>
              <a:rPr sz="1200" b="0">
                <a:solidFill>
                  <a:srgbClr val="A9BEC8"/>
                </a:solidFill>
              </a:rPr>
              <a:t>Analist alarmı ve kanıtlar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D836DB-1F86-4999-9ED7-F1C6B1E2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572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E2633"/>
          </a:solidFill>
          <a:ln xmlns:a="http://schemas.openxmlformats.org/drawingml/2006/main" w="9525">
            <a:solidFill>
              <a:srgbClr val="2445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AD29E1-F637-4F6E-9CA7-E765FC72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768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3E6FF"/>
                </a:solidFill>
              </a:defRPr>
            </a:pPr>
            <a:r>
              <a:rPr sz="1575" b="1">
                <a:solidFill>
                  <a:srgbClr val="63E6FF"/>
                </a:solidFill>
              </a:rPr>
              <a:t>Başarı = daha erken alarm + daha az yanlış pozitif + açıklanabilir kanıt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A18716-C68E-4031-9CE4-B7C06F18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BEC8"/>
                </a:solidFill>
              </a:defRPr>
            </a:pPr>
            <a:r>
              <a:rPr sz="900" b="1">
                <a:solidFill>
                  <a:srgbClr val="A9BEC8"/>
                </a:solidFill>
              </a:rPr>
              <a:t>CHARGESHIELD  /  SANAL POS ERKEN RİSK UYARISI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655DC2-437B-45FB-85B0-B146F957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EC8"/>
                </a:solidFill>
              </a:defRPr>
            </a:pPr>
            <a:r>
              <a:rPr sz="900" b="1">
                <a:solidFill>
                  <a:srgbClr val="A9BEC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070540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903CCD-4194-4F9F-A19D-933252D1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D3C2"/>
                </a:solidFill>
              </a:defRPr>
            </a:pPr>
            <a:r>
              <a:rPr sz="1350" b="1">
                <a:solidFill>
                  <a:srgbClr val="29D3C2"/>
                </a:solidFill>
              </a:rPr>
              <a:t>SONUÇ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8207A-82BE-4A4F-8508-5A175643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38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AFC"/>
                </a:solidFill>
              </a:defRPr>
            </a:pPr>
            <a:r>
              <a:rPr sz="3600" b="1">
                <a:solidFill>
                  <a:srgbClr val="F5FAFC"/>
                </a:solidFill>
              </a:rPr>
              <a:t>Paranın hareketinden önce,</a:t>
            </a:r>
          </a:p>
          <a:p xmlns:a="http://schemas.openxmlformats.org/drawingml/2006/main">
            <a:pPr algn="l">
              <a:defRPr sz="3600" b="1">
                <a:solidFill>
                  <a:srgbClr val="F5FAFC"/>
                </a:solidFill>
              </a:defRPr>
            </a:pPr>
            <a:r>
              <a:rPr sz="3600" b="1">
                <a:solidFill>
                  <a:srgbClr val="F5FAFC"/>
                </a:solidFill>
              </a:rPr>
              <a:t>mağduriyetin sinyalini yakala.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F6CF1-A384-4D11-8B33-DA94D963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3E6FF"/>
                </a:solidFill>
              </a:defRPr>
            </a:pPr>
            <a:r>
              <a:rPr sz="1875" b="1">
                <a:solidFill>
                  <a:srgbClr val="63E6FF"/>
                </a:solidFill>
              </a:rPr>
              <a:t>ChargeShield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57ED7-F77A-469A-A9B3-2AA61CD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EC8"/>
                </a:solidFill>
              </a:defRPr>
            </a:pPr>
            <a:r>
              <a:rPr sz="1650" b="0">
                <a:solidFill>
                  <a:srgbClr val="A9BEC8"/>
                </a:solidFill>
              </a:rPr>
              <a:t>Sanal POS merchant’ları için açıklanabilir</a:t>
            </a:r>
          </a:p>
          <a:p xmlns:a="http://schemas.openxmlformats.org/drawingml/2006/main">
            <a:pPr algn="l">
              <a:defRPr sz="1650" b="0">
                <a:solidFill>
                  <a:srgbClr val="A9BEC8"/>
                </a:solidFill>
              </a:defRPr>
            </a:pPr>
            <a:r>
              <a:rPr sz="1650" b="0">
                <a:solidFill>
                  <a:srgbClr val="A9BEC8"/>
                </a:solidFill>
              </a:rPr>
              <a:t>erken risk uyarısı.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53583-2C8F-40B5-AAB9-AB3E12AD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2333625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0E2633"/>
          </a:solidFill>
          <a:ln xmlns:a="http://schemas.openxmlformats.org/drawingml/2006/main" w="9525">
            <a:solidFill>
              <a:srgbClr val="63E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30449-318D-4AD6-82A2-9B929D06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33625"/>
            <a:ext cx="1857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FAFC"/>
                </a:solidFill>
              </a:defRPr>
            </a:pPr>
            <a:r>
              <a:rPr sz="2100" b="1">
                <a:solidFill>
                  <a:srgbClr val="F5FAFC"/>
                </a:solidFill>
              </a:rPr>
              <a:t>Banka verisi</a:t>
            </a:r>
          </a:p>
          <a:p xmlns:a="http://schemas.openxmlformats.org/drawingml/2006/main">
            <a:pPr algn="ctr">
              <a:defRPr sz="2100" b="1">
                <a:solidFill>
                  <a:srgbClr val="F5FAFC"/>
                </a:solidFill>
              </a:defRPr>
            </a:pPr>
            <a:r>
              <a:rPr sz="2100" b="1">
                <a:solidFill>
                  <a:srgbClr val="F5FAFC"/>
                </a:solidFill>
              </a:rPr>
              <a:t>×</a:t>
            </a:r>
          </a:p>
          <a:p xmlns:a="http://schemas.openxmlformats.org/drawingml/2006/main">
            <a:pPr algn="ctr">
              <a:defRPr sz="2100" b="1">
                <a:solidFill>
                  <a:srgbClr val="F5FAFC"/>
                </a:solidFill>
              </a:defRPr>
            </a:pPr>
            <a:r>
              <a:rPr sz="2100" b="1">
                <a:solidFill>
                  <a:srgbClr val="F5FAFC"/>
                </a:solidFill>
              </a:rPr>
              <a:t>Müşteri sesi</a:t>
            </a:r>
          </a:p>
          <a:p xmlns:a="http://schemas.openxmlformats.org/drawingml/2006/main">
            <a:pPr algn="ctr">
              <a:defRPr sz="2100" b="1">
                <a:solidFill>
                  <a:srgbClr val="F5FAFC"/>
                </a:solidFill>
              </a:defRPr>
            </a:pPr>
            <a:r>
              <a:rPr sz="2100" b="1">
                <a:solidFill>
                  <a:srgbClr val="F5FAFC"/>
                </a:solidFill>
              </a:rPr>
              <a:t>×</a:t>
            </a:r>
          </a:p>
          <a:p xmlns:a="http://schemas.openxmlformats.org/drawingml/2006/main">
            <a:pPr algn="ctr">
              <a:defRPr sz="2100" b="1">
                <a:solidFill>
                  <a:srgbClr val="F5FAFC"/>
                </a:solidFill>
              </a:defRPr>
            </a:pPr>
            <a:r>
              <a:rPr sz="2100" b="1">
                <a:solidFill>
                  <a:srgbClr val="F5FAFC"/>
                </a:solidFill>
              </a:rPr>
              <a:t>Zaman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26411-33FB-476B-B08D-AEFA1D4A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BEC8"/>
                </a:solidFill>
              </a:defRPr>
            </a:pPr>
            <a:r>
              <a:rPr sz="900" b="1">
                <a:solidFill>
                  <a:srgbClr val="A9BEC8"/>
                </a:solidFill>
              </a:rPr>
              <a:t>CHARGESHIELD  /  SANAL POS ERKEN RİSK UYARISI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94850-C0B6-4CA0-97F2-174BE6DA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EC8"/>
                </a:solidFill>
              </a:defRPr>
            </a:pPr>
            <a:r>
              <a:rPr sz="900" b="1">
                <a:solidFill>
                  <a:srgbClr val="A9BEC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807828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2026-08-15T11:46:56.5430000Z</dcterms:created>
  <dcterms:modified xsi:type="dcterms:W3CDTF">2026-08-15T11:46:56.5430000Z</dcterms:modified>
</coreProperties>
</file>